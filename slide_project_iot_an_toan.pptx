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928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giới thiệu đề tài, nhấn mạnh vừa có phần IoT vừa có phần bảo mật thiết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từ trái sang phải: cảm biến đo, ESP32 gửi JSON, server kiểm tra chữ ký, lưu DB và dashboard hiển thị.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7D53-F36D-2D33-7079-9FDCCDF2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B41AB-69B4-6A9E-A6D8-1C7560677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D5F06-B4E9-BA43-DB04-085148CC2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2892B-5742-159C-AB28-B7941FFC8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17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46AAA-15B4-29E6-8268-157F9BC1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5070C-7635-4A10-FA76-707BDFE40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FBCEB-2410-8921-9DDD-01C12E47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2F027-40BC-3E3C-2CAF-7C6381E59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87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1A460-94A2-4528-4947-0051B72D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AD978-B060-5EF1-F4B1-E7AD34D97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B364F-27BE-135E-F512-FED0D8F3D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06470-F914-18EC-9210-8CE6DF5D5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48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3364D-0F53-AA2C-59D6-D253B9920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0F420-7B8D-C0D0-B71C-5D3EE323A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CA1CA-DB5A-8DA3-F36D-B1254889F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6B820-3B0B-35FB-5C46-DDEED8DAB0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4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vi-VN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HỆ THỐNG GIÁM SÁT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NHIỆT ĐỘ &amp; ĐỘ ẨM PHÒNG HỌC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FF7F2"/>
                </a:solidFill>
              </a:rPr>
              <a:t>Phạm Phan Bá Việt – AT190358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46404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dirty="0">
                <a:solidFill>
                  <a:srgbClr val="000000"/>
                </a:solidFill>
              </a:rPr>
              <a:t>🌡️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9281160" y="2514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dirty="0">
                <a:solidFill>
                  <a:srgbClr val="000000"/>
                </a:solidFill>
              </a:rPr>
              <a:t>💧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9555480" y="3858768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🔐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77240" y="63459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Vấn đề &amp; mục tiêu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</a:rPr>
              <a:t>Từ nhu cầu theo dõi môi trường phòng học đến hệ thống IoT có bảo mật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55B"/>
                </a:solidFill>
              </a:rPr>
              <a:t>Vấn đề thực tế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34340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800" dirty="0">
                <a:solidFill>
                  <a:srgbClr val="1E2A36"/>
                </a:solidFill>
              </a:rPr>
              <a:t>Nhiệt độ/độ ẩm ảnh hưởng tới sự thoải mái và thiết bị trong phòng học.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Cần theo dõi tự động thay vì kiểm </a:t>
            </a:r>
            <a:r>
              <a:rPr lang="en-US" sz="1800" dirty="0" err="1">
                <a:solidFill>
                  <a:srgbClr val="1E2A36"/>
                </a:solidFill>
              </a:rPr>
              <a:t>tra</a:t>
            </a:r>
            <a:r>
              <a:rPr lang="en-US" sz="1800" dirty="0">
                <a:solidFill>
                  <a:srgbClr val="1E2A36"/>
                </a:solidFill>
              </a:rPr>
              <a:t> </a:t>
            </a:r>
            <a:r>
              <a:rPr lang="en-US" sz="1800" dirty="0" err="1">
                <a:solidFill>
                  <a:srgbClr val="1E2A36"/>
                </a:solidFill>
              </a:rPr>
              <a:t>thủ</a:t>
            </a:r>
            <a:r>
              <a:rPr lang="en-US" sz="1800" dirty="0">
                <a:solidFill>
                  <a:srgbClr val="1E2A36"/>
                </a:solidFill>
              </a:rPr>
              <a:t> </a:t>
            </a:r>
            <a:r>
              <a:rPr lang="en-US" sz="1800" dirty="0" err="1">
                <a:solidFill>
                  <a:srgbClr val="1E2A36"/>
                </a:solidFill>
              </a:rPr>
              <a:t>công</a:t>
            </a:r>
            <a:r>
              <a:rPr lang="en-US" sz="1800" dirty="0">
                <a:solidFill>
                  <a:srgbClr val="1E2A36"/>
                </a:solidFill>
              </a:rPr>
              <a:t>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Dữ liệu IoT gửi qua mạng cần được xác thực và chống giả mạo.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417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55B"/>
                </a:solidFill>
              </a:rPr>
              <a:t>Mục tiêu project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43484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800" dirty="0">
                <a:solidFill>
                  <a:srgbClr val="1E2A36"/>
                </a:solidFill>
              </a:rPr>
              <a:t>ESP32 đọc dữ liệu từ DHT11/DHT22 theo chu kỳ.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Backend Flask lưu dữ liệu và cung cấp dashboard.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Bổ sung đăng nhập, HMAC-SHA256, chống replay, rate limit và audit log.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Kiến trúc hệ thống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</a:rPr>
              <a:t>Luồng dữ liệu từ cảm biến đến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2743200"/>
            <a:ext cx="960120" cy="0"/>
          </a:xfrm>
          <a:prstGeom prst="line">
            <a:avLst/>
          </a:prstGeom>
          <a:noFill/>
          <a:ln w="25400">
            <a:solidFill>
              <a:srgbClr val="1BA0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3931920" y="2743200"/>
            <a:ext cx="868680" cy="0"/>
          </a:xfrm>
          <a:prstGeom prst="line">
            <a:avLst/>
          </a:prstGeom>
          <a:noFill/>
          <a:ln w="25400">
            <a:solidFill>
              <a:srgbClr val="1BA0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6035040" y="2743200"/>
            <a:ext cx="868680" cy="0"/>
          </a:xfrm>
          <a:prstGeom prst="line">
            <a:avLst/>
          </a:prstGeom>
          <a:noFill/>
          <a:ln w="25400">
            <a:solidFill>
              <a:srgbClr val="1BA0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8138160" y="2743200"/>
            <a:ext cx="685800" cy="0"/>
          </a:xfrm>
          <a:prstGeom prst="line">
            <a:avLst/>
          </a:prstGeom>
          <a:noFill/>
          <a:ln w="25400">
            <a:solidFill>
              <a:srgbClr val="1BA0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10058400" y="2743200"/>
            <a:ext cx="320040" cy="0"/>
          </a:xfrm>
          <a:prstGeom prst="line">
            <a:avLst/>
          </a:prstGeom>
          <a:noFill/>
          <a:ln w="25400">
            <a:solidFill>
              <a:srgbClr val="1BA0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1234440" cy="3200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DHT11/DHT22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7063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6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Đo nhiệt độ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độ ẩm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331720"/>
            <a:ext cx="1234440" cy="320040"/>
          </a:xfrm>
          <a:prstGeom prst="rect">
            <a:avLst/>
          </a:prstGeom>
          <a:solidFill>
            <a:srgbClr val="DFF7F2"/>
          </a:solidFill>
          <a:ln>
            <a:solidFill>
              <a:srgbClr val="DFF7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ESP32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77063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6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Đọc dữ liệu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5 giây/lần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1234440" cy="3200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HTTP POST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77063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6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JSON + HMAC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Timestamp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2331720"/>
            <a:ext cx="1234440" cy="320040"/>
          </a:xfrm>
          <a:prstGeom prst="rect">
            <a:avLst/>
          </a:prstGeom>
          <a:solidFill>
            <a:srgbClr val="DFF7F2"/>
          </a:solidFill>
          <a:ln>
            <a:solidFill>
              <a:srgbClr val="DFF7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Flask Backend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277063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6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Xác thực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Lưu dữ liệu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2331720"/>
            <a:ext cx="1234440" cy="3200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SQLite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277063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6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Lịch sử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Security logs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378440" y="2331720"/>
            <a:ext cx="1234440" cy="320040"/>
          </a:xfrm>
          <a:prstGeom prst="rect">
            <a:avLst/>
          </a:prstGeom>
          <a:solidFill>
            <a:srgbClr val="DFF7F2"/>
          </a:solidFill>
          <a:ln>
            <a:solidFill>
              <a:srgbClr val="DFF7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78440" y="277063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6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Biểu đồ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A36"/>
                </a:solidFill>
              </a:rPr>
              <a:t>Trạng thái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45720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55B"/>
                </a:solidFill>
              </a:rPr>
              <a:t>Điểm nhấn bảo mật nằm ở đoạn ESP32 → Flask: thiết bị phải tạo chữ ký HMAC-SHA256 và gửi kèm timestamp.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Phần cứng &amp; mô phỏng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</a:rPr>
              <a:t>Linh kiện tối thiểu và cách nối chân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55B"/>
                </a:solidFill>
              </a:rPr>
              <a:t>Linh kiện chính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A098"/>
                </a:solidFill>
              </a:rPr>
              <a:t>ESP32 DevKit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Vi điều khiển kết nối Wi‑Fi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313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A098"/>
                </a:solidFill>
              </a:rPr>
              <a:t>DHT11/DHT22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23134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Cảm biến nhiệt độ, độ ẩm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843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A098"/>
                </a:solidFill>
              </a:rPr>
              <a:t>LED/Buzzer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8437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Cảnh báo vượt ngưỡng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374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A098"/>
                </a:solidFill>
              </a:rPr>
              <a:t>Breadboard + jumper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33741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Lắp mạch thử nghiệm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9044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A098"/>
                </a:solidFill>
              </a:rPr>
              <a:t>Laptop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39044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Chạy Flask backend</a:t>
            </a:r>
            <a:endParaRPr lang="en-US" sz="15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128813A-D7B4-C2B0-2FAA-3A292DD0C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2" y="1008302"/>
            <a:ext cx="4656314" cy="40367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Ngôn ngữ &amp; công nghệ sử dụng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</a:rPr>
              <a:t>Chia theo 3 lớp: thiết bị, server, giao diện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A098"/>
                </a:solidFill>
              </a:rPr>
              <a:t>Firmware IoT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108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Arduino/C++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ESP32 Wi‑Fi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HTTP POST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HMAC-SHA256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NTP timestamp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8A868"/>
                </a:solidFill>
              </a:rPr>
              <a:t>Backend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1874520"/>
            <a:ext cx="3108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Python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Flask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SQLite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Werkzeug password hash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Rate limit + security logs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</a:rPr>
              <a:t>Dashboard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0" y="1874520"/>
            <a:ext cx="3108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CSS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JavaScript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Biểu đồ dữ liệu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</a:rPr>
              <a:t>Bảng lịch sử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Chức năng chính của hệ thống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</a:rPr>
              <a:t>Những màn hình nên demo trong buổi trình bày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🌡️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435608" y="1435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Giám sát nhiệt độ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35608" y="1801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6"/>
                </a:solidFill>
              </a:rPr>
              <a:t>Hiển thị giá trị hiện tại và lịch sử.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💧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138928" y="1435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Giám sát độ ẩm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38928" y="1801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6"/>
                </a:solidFill>
              </a:rPr>
              <a:t>Theo dõi độ ẩm phòng học theo thời gian.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🟢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842248" y="1435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Trạng thái thiết bị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42248" y="1801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6"/>
                </a:solidFill>
              </a:rPr>
              <a:t>Online/offline dựa trên last_seen.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📈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310128" y="3721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Biểu đồ dashboard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10128" y="4087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6"/>
                </a:solidFill>
              </a:rPr>
              <a:t>Quan sát xu hướng thay đổi dữ liệu.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🚨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287768" y="3721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Cảnh báo ngưỡng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4087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A36"/>
                </a:solidFill>
              </a:rPr>
              <a:t>LED/buzzer khi &lt;10°C, &gt;35°C, &lt;30% hoặc &gt;85%.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Tính năng an toàn thông tin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</a:rPr>
              <a:t>Các cơ chế bảo vệ đã tích hợp vào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6492240" cy="4389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700" dirty="0">
                <a:solidFill>
                  <a:srgbClr val="1E2A36"/>
                </a:solidFill>
              </a:rPr>
              <a:t>Xác thực thiết bị bằng HMAC-SHA256: server kiểm tra chữ ký trước khi nhận dữ liệu.</a:t>
            </a:r>
            <a:endParaRPr lang="en-US" sz="1700" dirty="0"/>
          </a:p>
          <a:p>
            <a:r>
              <a:rPr lang="en-US" sz="1700" dirty="0">
                <a:solidFill>
                  <a:srgbClr val="1E2A36"/>
                </a:solidFill>
              </a:rPr>
              <a:t>Chống replay bằng X-Timestamp, mặc định cho phép lệch tối đa 60 giây.</a:t>
            </a:r>
            <a:endParaRPr lang="en-US" sz="1700" dirty="0"/>
          </a:p>
          <a:p>
            <a:r>
              <a:rPr lang="en-US" sz="1700" dirty="0">
                <a:solidFill>
                  <a:srgbClr val="1E2A36"/>
                </a:solidFill>
              </a:rPr>
              <a:t>Dashboard yêu cầu đăng nhập; mật khẩu được hash bằng Werkzeug.</a:t>
            </a:r>
            <a:endParaRPr lang="en-US" sz="1700" dirty="0"/>
          </a:p>
          <a:p>
            <a:r>
              <a:rPr lang="en-US" sz="1700" dirty="0">
                <a:solidFill>
                  <a:srgbClr val="1E2A36"/>
                </a:solidFill>
              </a:rPr>
              <a:t>CSRF token cho đăng nhập, đăng xuất và đổi mật khẩu.</a:t>
            </a:r>
            <a:endParaRPr lang="en-US" sz="1700" dirty="0"/>
          </a:p>
          <a:p>
            <a:r>
              <a:rPr lang="en-US" sz="1700" dirty="0">
                <a:solidFill>
                  <a:srgbClr val="1E2A36"/>
                </a:solidFill>
              </a:rPr>
              <a:t>Rate limit login/API và khóa tạm thời khi đăng nhập sai nhiều lần.</a:t>
            </a:r>
            <a:endParaRPr lang="en-US" sz="1700" dirty="0"/>
          </a:p>
          <a:p>
            <a:r>
              <a:rPr lang="en-US" sz="1700" dirty="0">
                <a:solidFill>
                  <a:srgbClr val="1E2A36"/>
                </a:solidFill>
              </a:rPr>
              <a:t>Security headers và trang security logs để theo dõi sự kiện bất thường.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32520" y="15087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0" dirty="0">
                <a:solidFill>
                  <a:srgbClr val="000000"/>
                </a:solidFill>
              </a:rPr>
              <a:t>🔐</a:t>
            </a:r>
            <a:endParaRPr lang="en-US" sz="7500" dirty="0"/>
          </a:p>
        </p:txBody>
      </p:sp>
      <p:sp>
        <p:nvSpPr>
          <p:cNvPr id="9" name="Text 7"/>
          <p:cNvSpPr/>
          <p:nvPr/>
        </p:nvSpPr>
        <p:spPr>
          <a:xfrm>
            <a:off x="7909560" y="3063240"/>
            <a:ext cx="2926080" cy="347472"/>
          </a:xfrm>
          <a:prstGeom prst="rect">
            <a:avLst/>
          </a:prstGeom>
          <a:solidFill>
            <a:srgbClr val="EAF3FF"/>
          </a:solidFill>
          <a:ln>
            <a:solidFill>
              <a:srgbClr val="EAF3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invalid_signature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09560" y="3611880"/>
            <a:ext cx="2926080" cy="347472"/>
          </a:xfrm>
          <a:prstGeom prst="rect">
            <a:avLst/>
          </a:prstGeom>
          <a:solidFill>
            <a:srgbClr val="DFF7F2"/>
          </a:solidFill>
          <a:ln>
            <a:solidFill>
              <a:srgbClr val="DFF7F2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replay_detected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09560" y="4160520"/>
            <a:ext cx="2926080" cy="347472"/>
          </a:xfrm>
          <a:prstGeom prst="rect">
            <a:avLst/>
          </a:prstGeom>
          <a:solidFill>
            <a:srgbClr val="FFF0D6"/>
          </a:solidFill>
          <a:ln>
            <a:solidFill>
              <a:srgbClr val="FFF0D6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login_failed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4709160"/>
            <a:ext cx="2926080" cy="347472"/>
          </a:xfrm>
          <a:prstGeom prst="rect">
            <a:avLst/>
          </a:prstGeom>
          <a:solidFill>
            <a:srgbClr val="FFE3E3"/>
          </a:solidFill>
          <a:ln>
            <a:solidFill>
              <a:srgbClr val="FFE3E3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threshold_warning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Luồng gửi dữ liệu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</a:rPr>
              <a:t>Cách ESP32 gửi dữ liệu an toàn lên backend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</a:rPr>
              <a:t>Header HMAC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41148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6F2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X-Device-Id: CLASSROOM_01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X-Timestamp: 1717000000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X-Signature: &lt;hmac_sha256_hex&gt;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</a:rPr>
              <a:t>Body JSON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41148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6F2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"device_id": "CLASSROOM_01",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"temperature": 29.5,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"humidity": 70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</a:rPr>
              <a:t>Server kiểm tra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46520" y="1874520"/>
            <a:ext cx="4480560" cy="3108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700" dirty="0">
                <a:solidFill>
                  <a:srgbClr val="1E2A36"/>
                </a:solidFill>
              </a:rPr>
              <a:t>Tạo lại chữ ký từ device_id + timestamp + raw_json_body.</a:t>
            </a:r>
            <a:endParaRPr lang="en-US" sz="1700" dirty="0"/>
          </a:p>
          <a:p>
            <a:r>
              <a:rPr lang="en-US" sz="1700" dirty="0">
                <a:solidFill>
                  <a:srgbClr val="1E2A36"/>
                </a:solidFill>
              </a:rPr>
              <a:t>So sánh chữ ký nhận được với chữ ký server tính.</a:t>
            </a:r>
            <a:endParaRPr lang="en-US" sz="1700" dirty="0"/>
          </a:p>
          <a:p>
            <a:r>
              <a:rPr lang="en-US" sz="1700" dirty="0">
                <a:solidFill>
                  <a:srgbClr val="1E2A36"/>
                </a:solidFill>
              </a:rPr>
              <a:t>Kiểm tra timestamp để phát hiện replay.</a:t>
            </a:r>
            <a:endParaRPr lang="en-US" sz="1700" dirty="0"/>
          </a:p>
          <a:p>
            <a:r>
              <a:rPr lang="en-US" sz="1700" dirty="0">
                <a:solidFill>
                  <a:srgbClr val="1E2A36"/>
                </a:solidFill>
              </a:rPr>
              <a:t>Nếu hợp lệ: lưu vào SQLite và cập nhật dashboard.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Ảnh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minh</a:t>
            </a: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họa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411480" cy="411480"/>
          </a:xfrm>
          <a:prstGeom prst="rect">
            <a:avLst/>
          </a:prstGeom>
          <a:solidFill>
            <a:srgbClr val="1BA098"/>
          </a:solidFill>
          <a:ln>
            <a:solidFill>
              <a:srgbClr val="1BA09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2527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Dashboard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03320" y="12527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Chụp phần nhiệt độ, độ ẩm, biểu đồ, bảng lịch sử.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411480" cy="411480"/>
          </a:xfrm>
          <a:prstGeom prst="rect">
            <a:avLst/>
          </a:prstGeom>
          <a:solidFill>
            <a:srgbClr val="1BA098"/>
          </a:solidFill>
          <a:ln>
            <a:solidFill>
              <a:srgbClr val="1BA09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121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Wokwi/mạch thật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03320" y="21214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Chụp rõ ESP32, DHT, LED/buzzer và dây nối.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411480" cy="411480"/>
          </a:xfrm>
          <a:prstGeom prst="rect">
            <a:avLst/>
          </a:prstGeom>
          <a:solidFill>
            <a:srgbClr val="1BA098"/>
          </a:solidFill>
          <a:ln>
            <a:solidFill>
              <a:srgbClr val="1BA09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9900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Terminal Flask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03320" y="299008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Chụp dòng server chạy và API nhận dữ liệu.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411480" cy="411480"/>
          </a:xfrm>
          <a:prstGeom prst="rect">
            <a:avLst/>
          </a:prstGeom>
          <a:solidFill>
            <a:srgbClr val="1BA098"/>
          </a:solidFill>
          <a:ln>
            <a:solidFill>
              <a:srgbClr val="1BA09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58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Security logs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03320" y="38587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Chụp các sự kiện: login_success, invalid_signature, replay_detected.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411480" cy="411480"/>
          </a:xfrm>
          <a:prstGeom prst="rect">
            <a:avLst/>
          </a:prstGeom>
          <a:solidFill>
            <a:srgbClr val="1BA098"/>
          </a:solidFill>
          <a:ln>
            <a:solidFill>
              <a:srgbClr val="1BA09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727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5B"/>
                </a:solidFill>
              </a:rPr>
              <a:t>Code quan trọng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703320" y="47274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6"/>
                </a:solidFill>
              </a:rPr>
              <a:t>Chỉ chụp 10–15 dòng tạo HMAC hoặc gửi HTTP POST.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AF16-AA47-1D99-0C02-E61D7F581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74A67E-608F-ABC7-8234-99E6E75089B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9FD7A7-93EA-1201-4ADE-D15B14EEFB7F}"/>
              </a:ext>
            </a:extLst>
          </p:cNvPr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Ảnh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minh</a:t>
            </a: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họa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D3C949-3C6D-BCFF-FCE8-798B94F5565D}"/>
              </a:ext>
            </a:extLst>
          </p:cNvPr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8D9864-61B1-7CAE-A715-2E3DE32C020C}"/>
              </a:ext>
            </a:extLst>
          </p:cNvPr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09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6B10FEF-AE1C-A141-6448-D9824B7E4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521" y="846887"/>
            <a:ext cx="9538652" cy="562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53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A13A5-E07D-E1E8-306F-B55BEEF58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A3FAD6-FA2B-8CC2-939B-1B6BD25C0E4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BA4C24-EC12-12FF-5213-405B759B44B5}"/>
              </a:ext>
            </a:extLst>
          </p:cNvPr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Ảnh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minh</a:t>
            </a: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họa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076102-0D48-6445-3F10-7F3FFAFA738A}"/>
              </a:ext>
            </a:extLst>
          </p:cNvPr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4AE704A-801A-D47A-1441-1CC84C8F01C6}"/>
              </a:ext>
            </a:extLst>
          </p:cNvPr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09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30EA1-EBC9-87AF-836F-8B8399FB8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49" y="1201031"/>
            <a:ext cx="10458395" cy="497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9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7BA14-660E-13FD-7D9F-A3D1A2C17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5F037A-E1CB-1D64-4289-2A5088D015C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F0768D-5C58-64C8-9AC2-1096ADFFA0C8}"/>
              </a:ext>
            </a:extLst>
          </p:cNvPr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Ảnh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minh</a:t>
            </a: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họa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9B21D5-7AE4-14CA-B716-B747156A963D}"/>
              </a:ext>
            </a:extLst>
          </p:cNvPr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05D866-47B2-C999-4F0A-0329298650AB}"/>
              </a:ext>
            </a:extLst>
          </p:cNvPr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09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2F2A35-2E7B-F8AB-3333-D45E94BEB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72" y="994164"/>
            <a:ext cx="10713550" cy="509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58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14B50-C92A-3ADE-A846-68C7999C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8459C8-7510-231B-1B66-30DDB221241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C4FC74-9C1D-80C9-40E1-27E22D2EA809}"/>
              </a:ext>
            </a:extLst>
          </p:cNvPr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Ảnh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minh</a:t>
            </a: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họa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F56C96-CEA2-7D7D-5315-128229469584}"/>
              </a:ext>
            </a:extLst>
          </p:cNvPr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26440E-1C1B-0A0A-B067-4EE61DAA2572}"/>
              </a:ext>
            </a:extLst>
          </p:cNvPr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09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22FD31-3E59-C6E0-768D-B2AA95E59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51" y="990259"/>
            <a:ext cx="8754697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51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098"/>
          </a:solidFill>
          <a:ln w="12700">
            <a:solidFill>
              <a:srgbClr val="1BA09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 &amp; hướng phát triển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8"/>
                </a:solidFill>
              </a:rPr>
              <a:t>Tóm tắt giá trị đạt được và định hướng nâng cấp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0" y="3840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8"/>
                </a:solidFill>
              </a:rPr>
              <a:t>IoT &amp; An toàn thông tin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B78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55B"/>
                </a:solidFill>
              </a:rPr>
              <a:t>Kết luận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4846320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800" dirty="0">
                <a:solidFill>
                  <a:srgbClr val="1E2A36"/>
                </a:solidFill>
              </a:rPr>
              <a:t>Đã xây dựng được mô hình giám sát nhiệt độ, độ ẩm phòng học.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Dữ liệu được gửi từ ESP32 lên Flask và hiển thị trên dashboard.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Hệ thống có lớp bảo mật: đăng nhập, HMAC, chống replay, CSRF, rate limit, audit log.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55B"/>
                </a:solidFill>
              </a:rPr>
              <a:t>Hướng phát triển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4572000" cy="3017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800" dirty="0">
                <a:solidFill>
                  <a:srgbClr val="1E2A36"/>
                </a:solidFill>
              </a:rPr>
              <a:t>Bật HTTPS thật bằng reverse proxy hoặc Cloudflare Tunnel.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Chuyển HTTP sang MQTT + TLS.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Quản lý nhiều phòng học/nhiều thiết bị.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Gửi cảnh báo Telegram/email.</a:t>
            </a:r>
            <a:endParaRPr lang="en-US" sz="1800" dirty="0"/>
          </a:p>
          <a:p>
            <a:r>
              <a:rPr lang="en-US" sz="1800" dirty="0">
                <a:solidFill>
                  <a:srgbClr val="1E2A36"/>
                </a:solidFill>
              </a:rPr>
              <a:t>Export CSV/PDF cho báo cáo.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1012</Words>
  <Application>Microsoft Office PowerPoint</Application>
  <PresentationFormat>Widescreen</PresentationFormat>
  <Paragraphs>191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Học viện Kỹ thuật mật mã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project IoT và An toàn</dc:title>
  <dc:subject>Hệ thống giám sát nhiệt độ và độ ẩm phòng học có bảo mật IoT</dc:subject>
  <dc:creator>OpenAI</dc:creator>
  <cp:lastModifiedBy>Phạm Phan Bá Việt</cp:lastModifiedBy>
  <cp:revision>3</cp:revision>
  <dcterms:created xsi:type="dcterms:W3CDTF">2026-05-31T11:35:49Z</dcterms:created>
  <dcterms:modified xsi:type="dcterms:W3CDTF">2026-05-31T14:58:02Z</dcterms:modified>
</cp:coreProperties>
</file>